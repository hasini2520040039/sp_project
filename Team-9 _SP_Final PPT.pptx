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1E293B"/>
                </a:solidFill>
                <a:latin typeface="+mn-lt"/>
              </a:rPr>
              <a:t>SI-SNR and SDR (dB), higher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Mixture (baseline)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Speaker 1 SI-SNR</c:v>
                </c:pt>
                <c:pt idx="1">
                  <c:v>Speaker 2 SI-SNR</c:v>
                </c:pt>
                <c:pt idx="2">
                  <c:v>Speaker 1 SDR</c:v>
                </c:pt>
                <c:pt idx="3">
                  <c:v>Speaker 2 SDR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1.07</c:v>
                </c:pt>
                <c:pt idx="1">
                  <c:v>-0.9</c:v>
                </c:pt>
                <c:pt idx="2">
                  <c:v>1.23</c:v>
                </c:pt>
                <c:pt idx="3">
                  <c:v>-0.52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A3-410D-AAA0-8BF6683A7C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Separated (Conv-TasNet)</c:v>
                </c:pt>
              </c:strCache>
            </c:strRef>
          </c:tx>
          <c:spPr>
            <a:solidFill>
              <a:srgbClr val="1B4D3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Speaker 1 SI-SNR</c:v>
                </c:pt>
                <c:pt idx="1">
                  <c:v>Speaker 2 SI-SNR</c:v>
                </c:pt>
                <c:pt idx="2">
                  <c:v>Speaker 1 SDR</c:v>
                </c:pt>
                <c:pt idx="3">
                  <c:v>Speaker 2 SDR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6.59</c:v>
                </c:pt>
                <c:pt idx="2">
                  <c:v>8.3800000000000008</c:v>
                </c:pt>
                <c:pt idx="3">
                  <c:v>8.51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A3-410D-AAA0-8BF6683A7C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000000"/>
                    </a:solidFill>
                    <a:latin typeface="Arial"/>
                  </a:rPr>
                  <a:t>dB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7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accent4"/>
                </a:solidFill>
              </a:rPr>
              <a:t>KL UNIVERSITY, HYDERABAD  •  DEPARTMENT OF ECE  • 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Quality-Aware and Speaker-Consistent Speech Separation for Real-World Mixed Audio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Department of Electronics and Communication Engineering  |  KL University, Hyderabad  |  Academic Year 2025–26</a:t>
            </a:r>
            <a:endParaRPr lang="en-US" sz="1800" dirty="0"/>
          </a:p>
        </p:txBody>
      </p:sp>
      <p:sp>
        <p:nvSpPr>
          <p:cNvPr id="4" name="Team card"/>
          <p:cNvSpPr/>
          <p:nvPr/>
        </p:nvSpPr>
        <p:spPr>
          <a:xfrm>
            <a:off x="731520" y="3566160"/>
            <a:ext cx="6309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uide card"/>
          <p:cNvSpPr/>
          <p:nvPr/>
        </p:nvSpPr>
        <p:spPr>
          <a:xfrm>
            <a:off x="7315200" y="3566160"/>
            <a:ext cx="4142232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794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TEAM MEMBERS  (REGISTRATION NO.)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2976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Boppana Dhatri Chowdary  —  2520040012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Thunga Sree Chandana  —  2520040030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Naralasetty Hasini  —  2520040039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PROJECT GUIDE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42976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Dr. V. Sahiti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Assistant Professor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Department of ECE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Problem, Motivation &amp; Practical Relevance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Right card"/>
          <p:cNvSpPr/>
          <p:nvPr/>
        </p:nvSpPr>
        <p:spPr>
          <a:xfrm>
            <a:off x="6199632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WHY IT MATTERS IN PRACTICE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Overlapping speech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When two people talk together their voices add into one signal, y(t) = s₁(t) + s₂(t), and each voice is hard to recover.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Separation is imperfect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Neural separators can leave leakage from the other speaker, distort the voice, or mix up which output is which speaker.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Outputs are trusted blindly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separated stream is normally used without checking whether it is reliable.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Meetings and teleconferencing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Cleaner speech for each participant and for transcription.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Hearing aids and voice assistants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Follow one voice in a noisy room or in a car.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Speech recognition and forensics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Wrong or distorted separated audio leads to wrong transcripts, so outputs should be checked.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Right card"/>
          <p:cNvSpPr/>
          <p:nvPr/>
        </p:nvSpPr>
        <p:spPr>
          <a:xfrm>
            <a:off x="6199632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WHAT WE SET OUT TO 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HOW WE MEASURE SUCCESS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920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Separate overlapping speakers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a pretrained Conv-TasNet to split a two-speaker mixture.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39542"/>
            <a:ext cx="48920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Check speaker consistency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Compare each output with a speaker prototype using ECAPA-TDNN embeddings.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58845"/>
            <a:ext cx="48920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Check separation quality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a re-separation, SI-SNR based quality score.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78147"/>
            <a:ext cx="48920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 Decide ACCEPT or REJECT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Combine both scores into one confidence value with a threshold.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97450"/>
            <a:ext cx="48920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5. Provide a fallback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If rejected, return the lightly cleaned original mixture.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Separation gain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SI-SNR and SDR improvement over the unprocessed mixture.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Decision behaviour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ACCEPT / REJECT counts and agreement with an oracle label.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Reproducibility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GPU notebook that runs end to end on public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Literature Review &amp; Problem Investigated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Right card"/>
          <p:cNvSpPr/>
          <p:nvPr/>
        </p:nvSpPr>
        <p:spPr>
          <a:xfrm>
            <a:off x="6199632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EXISTING APPROACHES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THE SPECIFIC PROBLEM WE INVESTIGATE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Conv-TasNet (Luo &amp; Mesgarani, 2019)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Time-domain separation that beats STFT masking, but gives no measure of output quality or speaker identity.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Paper 1: QDM-SSD (Niu et al., 2023)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Scores segment quality by re-separation and relative SI-SNR; 18.56% lower diarization error than ISSD. No speaker identity tracking.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Paper 2: Speaker-Discriminative Attractors (Kim et al., 2026)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Keeps speaker order consistent across streaming chunks with a memory queue of speaker prototypes. No check of output reliability.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gap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Quality checking and speaker tracking are treated separately, and separator outputs are accepted unconditionally.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question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Can a quality score and a speaker-consistency score be combined to decide whether a separated stream is trustworthy?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approach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hybrid pipeline inspired by both papers: confidence C = 0.5·S_spk + 0.5·S_qual with a 0.60 threshold. It adapts their ideas and is not a full reproduction.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Methodology: System Block Diagram</a:t>
            </a:r>
            <a:endParaRPr lang="en-US" sz="3200" dirty="0"/>
          </a:p>
        </p:txBody>
      </p:sp>
      <p:sp>
        <p:nvSpPr>
          <p:cNvPr id="3" name="Block: Mixed audio"/>
          <p:cNvSpPr/>
          <p:nvPr/>
        </p:nvSpPr>
        <p:spPr>
          <a:xfrm>
            <a:off x="548640" y="1325880"/>
            <a:ext cx="32918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Mixed audio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y(t) = s₁(t) + s₂(t)</a:t>
            </a:r>
            <a:endParaRPr lang="en-US" sz="1600" dirty="0"/>
          </a:p>
        </p:txBody>
      </p:sp>
      <p:sp>
        <p:nvSpPr>
          <p:cNvPr id="5" name="Block: Pre-processing"/>
          <p:cNvSpPr/>
          <p:nvPr/>
        </p:nvSpPr>
        <p:spPr>
          <a:xfrm>
            <a:off x="4297680" y="1325880"/>
            <a:ext cx="32918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0" y="1325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Pre-processing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mono, 8 kHz, align, normalize</a:t>
            </a:r>
            <a:endParaRPr lang="en-US" sz="1600" dirty="0"/>
          </a:p>
        </p:txBody>
      </p:sp>
      <p:sp>
        <p:nvSpPr>
          <p:cNvPr id="7" name="Block: Conv-TasNet separator"/>
          <p:cNvSpPr/>
          <p:nvPr/>
        </p:nvSpPr>
        <p:spPr>
          <a:xfrm>
            <a:off x="8046720" y="13258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325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Conv-TasNet separator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outputs two streams ŝ₁, ŝ₂</a:t>
            </a:r>
            <a:endParaRPr lang="en-US" sz="1600" dirty="0"/>
          </a:p>
        </p:txBody>
      </p:sp>
      <p:sp>
        <p:nvSpPr>
          <p:cNvPr id="9" name="Arrow 1"/>
          <p:cNvSpPr/>
          <p:nvPr/>
        </p:nvSpPr>
        <p:spPr>
          <a:xfrm>
            <a:off x="3840480" y="182880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Arrow 2"/>
          <p:cNvSpPr/>
          <p:nvPr/>
        </p:nvSpPr>
        <p:spPr>
          <a:xfrm>
            <a:off x="7589520" y="182880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Block: Speaker score S_spk"/>
          <p:cNvSpPr/>
          <p:nvPr/>
        </p:nvSpPr>
        <p:spPr>
          <a:xfrm>
            <a:off x="4297680" y="2926080"/>
            <a:ext cx="329184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Speaker score S_spk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ECAPA-TDNN + cosine similarity</a:t>
            </a:r>
            <a:endParaRPr lang="en-US" sz="1600" dirty="0"/>
          </a:p>
        </p:txBody>
      </p:sp>
      <p:sp>
        <p:nvSpPr>
          <p:cNvPr id="13" name="Block: Quality score S_qual"/>
          <p:cNvSpPr/>
          <p:nvPr/>
        </p:nvSpPr>
        <p:spPr>
          <a:xfrm>
            <a:off x="8046720" y="29260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926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Quality score S_qual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re-separation SI-SNR + sigmoid</a:t>
            </a:r>
            <a:endParaRPr lang="en-US" sz="1600" dirty="0"/>
          </a:p>
        </p:txBody>
      </p:sp>
      <p:sp>
        <p:nvSpPr>
          <p:cNvPr id="15" name="Connector"/>
          <p:cNvSpPr/>
          <p:nvPr/>
        </p:nvSpPr>
        <p:spPr>
          <a:xfrm>
            <a:off x="9829800" y="233172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Connector"/>
          <p:cNvSpPr/>
          <p:nvPr/>
        </p:nvSpPr>
        <p:spPr>
          <a:xfrm>
            <a:off x="5943600" y="2651760"/>
            <a:ext cx="3886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7" name="Arrow 3"/>
          <p:cNvSpPr/>
          <p:nvPr/>
        </p:nvSpPr>
        <p:spPr>
          <a:xfrm>
            <a:off x="5943600" y="265176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Arrow 4"/>
          <p:cNvSpPr/>
          <p:nvPr/>
        </p:nvSpPr>
        <p:spPr>
          <a:xfrm>
            <a:off x="9829800" y="265176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onnector"/>
          <p:cNvSpPr/>
          <p:nvPr/>
        </p:nvSpPr>
        <p:spPr>
          <a:xfrm>
            <a:off x="5943600" y="393192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0" name="Connector"/>
          <p:cNvSpPr/>
          <p:nvPr/>
        </p:nvSpPr>
        <p:spPr>
          <a:xfrm>
            <a:off x="5943600" y="4206240"/>
            <a:ext cx="3886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1" name="Arrow 5"/>
          <p:cNvSpPr/>
          <p:nvPr/>
        </p:nvSpPr>
        <p:spPr>
          <a:xfrm>
            <a:off x="9829800" y="3931920"/>
            <a:ext cx="0" cy="5943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Block: Confidence"/>
          <p:cNvSpPr/>
          <p:nvPr/>
        </p:nvSpPr>
        <p:spPr>
          <a:xfrm>
            <a:off x="8046720" y="4526280"/>
            <a:ext cx="356616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4526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Confidence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C = 0.5·S_spk + 0.5·S_qual</a:t>
            </a:r>
            <a:endParaRPr lang="en-US" sz="1600" dirty="0"/>
          </a:p>
        </p:txBody>
      </p:sp>
      <p:sp>
        <p:nvSpPr>
          <p:cNvPr id="24" name="Block: Decision"/>
          <p:cNvSpPr/>
          <p:nvPr/>
        </p:nvSpPr>
        <p:spPr>
          <a:xfrm>
            <a:off x="4297680" y="4526280"/>
            <a:ext cx="32918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Decision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 ≥ 0.60 ?</a:t>
            </a:r>
            <a:endParaRPr lang="en-US" sz="1600" dirty="0"/>
          </a:p>
        </p:txBody>
      </p:sp>
      <p:sp>
        <p:nvSpPr>
          <p:cNvPr id="26" name="Block: Output"/>
          <p:cNvSpPr/>
          <p:nvPr/>
        </p:nvSpPr>
        <p:spPr>
          <a:xfrm>
            <a:off x="548640" y="4526280"/>
            <a:ext cx="32918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ACCEPT: separated stream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REJECT: cleaned original mixture</a:t>
            </a:r>
            <a:endParaRPr lang="en-US" sz="1600" dirty="0"/>
          </a:p>
        </p:txBody>
      </p:sp>
      <p:sp>
        <p:nvSpPr>
          <p:cNvPr id="28" name="Arrow 6"/>
          <p:cNvSpPr/>
          <p:nvPr/>
        </p:nvSpPr>
        <p:spPr>
          <a:xfrm flipH="1">
            <a:off x="7589520" y="507492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Arrow 7"/>
          <p:cNvSpPr/>
          <p:nvPr/>
        </p:nvSpPr>
        <p:spPr>
          <a:xfrm flipH="1">
            <a:off x="3840480" y="507492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Both models are pretrained and used for inference only; no training is done in this project.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Methodology: Signal Processing Techniques</a:t>
            </a:r>
            <a:endParaRPr lang="en-US" sz="3200" dirty="0"/>
          </a:p>
        </p:txBody>
      </p:sp>
      <p:graphicFrame>
        <p:nvGraphicFramePr>
          <p:cNvPr id="7" name="Techniqu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Resampling and normalization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Convert to mono, 8 kHz, peak-normalize, then add the sources to form the mixture.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Conv-TasNet separation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Learned encoder, temporal convolution separator and decoder work directly on the waveform.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SI-SNR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10·log₁₀(‖s_target‖² / ‖e_noise‖²), a scale-invariant fidelity measure in dB.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SDR (mir_eval)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BSS-Eval signal-to-distortion ratio, also used to match outputs to speakers.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Speaker consistency S_spk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192-D ECAPA-TDNN embedding, L2-normalized; S_spk = (cosine + 1) / 2.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Quality score S_qual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Re-separate the stream; f = max relative SI-SNR; sigmoid with τ₁ = 10, τ₂ = 30, β = 0.3, floor 0.1.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Confidence and decision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= 0.5·S_spk + 0.5·S_qual; ACCEPT if C ≥ 0.60, otherwise REJECT.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Methodology: Data Sources &amp; Tools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Right card"/>
          <p:cNvSpPr/>
          <p:nvPr/>
        </p:nvSpPr>
        <p:spPr>
          <a:xfrm>
            <a:off x="6199632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463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TOOLS AND MODELS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Demo clips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LibriSpeech utterances (1.flac, 2.flac), about 3.27 s, mixed to form one overlapping recording.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85744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Evaluation data: MiniLibriMix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200 validation mixtures found; 50 chosen at random (seed 42); 40 unique speaker IDs.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51248"/>
            <a:ext cx="489204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Evaluation records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50 mixtures × 2 streams = 100 speaker-stream records.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20240"/>
            <a:ext cx="4892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Conv-TasNet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Asteroid, pretrained JorisCos/ConvTasNet_Libri2Mix_sepclean_8k.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944368"/>
            <a:ext cx="4892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ECAPA-TDNN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SpeechBrain, pretrained spkrec-ecapa-voxceleb (192-D embeddings).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968496"/>
            <a:ext cx="4892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Libraries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PyTorch, SoundFile, Librosa, scikit-learn, mir_eval.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4992624"/>
            <a:ext cx="4892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Platform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Kaggle notebook, NVIDIA Tesla T4 GPU.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Implementation: Key Processing Stages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548640" y="12801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Prepare audio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 clips, convert to mono, resample to 8 kHz, align, normalize and mix.</a:t>
            </a:r>
            <a:endParaRPr lang="en-US" sz="1500" dirty="0"/>
          </a:p>
        </p:txBody>
      </p:sp>
      <p:sp>
        <p:nvSpPr>
          <p:cNvPr id="6" name="Stage card 2"/>
          <p:cNvSpPr/>
          <p:nvPr/>
        </p:nvSpPr>
        <p:spPr>
          <a:xfrm>
            <a:off x="2788920" y="12801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Load models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Load pretrained Conv-TasNet and ECAPA-TDNN onto the GPU.</a:t>
            </a:r>
            <a:endParaRPr lang="en-US" sz="1500" dirty="0"/>
          </a:p>
        </p:txBody>
      </p:sp>
      <p:sp>
        <p:nvSpPr>
          <p:cNvPr id="9" name="Stage card 3"/>
          <p:cNvSpPr/>
          <p:nvPr/>
        </p:nvSpPr>
        <p:spPr>
          <a:xfrm>
            <a:off x="5029200" y="12801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1208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Score outputs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Compute SI-SNR, SDR, speaker score and quality score; extract 6 features.</a:t>
            </a:r>
            <a:endParaRPr lang="en-US" sz="1500" dirty="0"/>
          </a:p>
        </p:txBody>
      </p:sp>
      <p:sp>
        <p:nvSpPr>
          <p:cNvPr id="12" name="Stage card 4"/>
          <p:cNvSpPr/>
          <p:nvPr/>
        </p:nvSpPr>
        <p:spPr>
          <a:xfrm>
            <a:off x="7269480" y="12801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5236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Decide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Confidence C, threshold 0.60, then ACCEPT or the fallback output.</a:t>
            </a:r>
            <a:endParaRPr lang="en-US" sz="1500" dirty="0"/>
          </a:p>
        </p:txBody>
      </p:sp>
      <p:sp>
        <p:nvSpPr>
          <p:cNvPr id="15" name="Stage card 5"/>
          <p:cNvSpPr/>
          <p:nvPr/>
        </p:nvSpPr>
        <p:spPr>
          <a:xfrm>
            <a:off x="9509760" y="12801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9264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5. Evaluate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50 MiniLibriMix mixtures, save a CSV, plot the results.</a:t>
            </a:r>
            <a:endParaRPr lang="en-US" sz="1500" dirty="0"/>
          </a:p>
        </p:txBody>
      </p:sp>
      <p:sp>
        <p:nvSpPr>
          <p:cNvPr id="18" name="Note card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Six features are extracted per stream (S_spk, S_qual, SI-SNR, spectral centroid, ZCR, RMS), but only S_spk and S_qual enter the decision formula.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Implementation: Working System Demo</a:t>
            </a:r>
            <a:endParaRPr lang="en-US" sz="3200" dirty="0"/>
          </a:p>
        </p:txBody>
      </p:sp>
      <p:graphicFrame>
        <p:nvGraphicFramePr>
          <p:cNvPr id="10" name="Dem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Input: 2-speaker mixture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SI-SNR in → out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SDR in → out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Confidence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Speaker 1 (male)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1.07 → 8.20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1.23 → 8.38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46.7%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REJECT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Speaker 2 (female)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−0.90 → 6.59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−0.52 → 8.51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76.8%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ACCEPT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Notebook output: final decision" descr="final_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6116108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89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Notebook output: final decision per speaker</a:t>
            </a:r>
            <a:endParaRPr lang="en-US" sz="1200" dirty="0"/>
          </a:p>
        </p:txBody>
      </p:sp>
      <p:sp>
        <p:nvSpPr>
          <p:cNvPr id="6" name="Demo notes"/>
          <p:cNvSpPr/>
          <p:nvPr/>
        </p:nvSpPr>
        <p:spPr>
          <a:xfrm>
            <a:off x="6949440" y="2926080"/>
            <a:ext cx="4663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223760" y="3063240"/>
            <a:ext cx="411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Input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LibriSpeech clips (about 3.27 s) mixed into one signal.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4008120"/>
            <a:ext cx="411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Output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estimated streams, each scored and given a decision.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4953000"/>
            <a:ext cx="411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Speaker 2 accepted; Speaker 1 rejected and replaced by the cleaned mixture.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Gain over the Unprocessed Mixture</a:t>
            </a:r>
            <a:endParaRPr lang="en-US" sz="3200" dirty="0"/>
          </a:p>
        </p:txBody>
      </p:sp>
      <p:graphicFrame>
        <p:nvGraphicFramePr>
          <p:cNvPr id="3" name="Demo SI-SNR and SDR chart"/>
          <p:cNvGraphicFramePr/>
          <p:nvPr/>
        </p:nvGraphicFramePr>
        <p:xfrm>
          <a:off x="548640" y="1280160"/>
          <a:ext cx="70408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keaways"/>
          <p:cNvSpPr/>
          <p:nvPr/>
        </p:nvSpPr>
        <p:spPr>
          <a:xfrm>
            <a:off x="7863840" y="128016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138160" y="1508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SI-SNR gain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+7.13 dB (Speaker 1) and +7.49 dB (Speaker 2).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SDR gain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+7.15 dB and +9.03 dB.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526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Baseline comparison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unprocessed mixture is the baseline; separation improves both speakers.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MiniLibriMix (100 Streams)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 / 9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ACCEPT / REJECT decisions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67735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67735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91.0%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67735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agreement with oracle label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86830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8683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0.9529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8683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decision F1-score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9005926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05926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+15.51 dB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005926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mean SI-SNR gain, accepted</a:t>
            </a:r>
            <a:endParaRPr lang="en-US" sz="1400" dirty="0"/>
          </a:p>
        </p:txBody>
      </p:sp>
      <p:pic>
        <p:nvPicPr>
          <p:cNvPr id="15" name="Confusion matrix" descr="co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4368487" cy="3108960"/>
          </a:xfrm>
          <a:prstGeom prst="rect">
            <a:avLst/>
          </a:prstGeom>
        </p:spPr>
      </p:pic>
      <p:pic>
        <p:nvPicPr>
          <p:cNvPr id="16" name="SI-SNR scatter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447" y="2743200"/>
            <a:ext cx="3737097" cy="31089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" y="5897880"/>
            <a:ext cx="4368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Figure 1: Confusion matrix (oracle vs decision)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191447" y="5897880"/>
            <a:ext cx="37370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Figure 2: SI-SNR before vs after</a:t>
            </a:r>
            <a:endParaRPr lang="en-US" sz="1200" dirty="0"/>
          </a:p>
        </p:txBody>
      </p:sp>
      <p:sp>
        <p:nvSpPr>
          <p:cNvPr id="19" name="Reading the results"/>
          <p:cNvSpPr/>
          <p:nvPr/>
        </p:nvSpPr>
        <p:spPr>
          <a:xfrm>
            <a:off x="9144000" y="2743200"/>
            <a:ext cx="2468880" cy="31089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326880" y="2926080"/>
            <a:ext cx="21031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Every segment improves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points lie above the no-change line.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9326880" y="4366260"/>
            <a:ext cx="210312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Accepted vs rejected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Mean gain +15.51 dB vs +15.45 dB.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Evaluation: Comparison with the Baseline</a:t>
            </a:r>
            <a:endParaRPr lang="en-US" sz="3200" dirty="0"/>
          </a:p>
        </p:txBody>
      </p:sp>
      <p:graphicFrame>
        <p:nvGraphicFramePr>
          <p:cNvPr id="13" name="Bas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3774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Baseline: unprocessed mixture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Proposed: separated + checked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Demo SI-SNR (Spk 1 / Spk 2)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1.07 / −0.90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8.20 / 6.59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Demo SDR (Spk 1 / Spk 2)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1.23 / −0.52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8.38 / 8.51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Mean SI-SNR gain, 100 streams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dB (reference)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about +15.5 dB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Streams accepted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checking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 of 100 (9 rejected)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Evaluation notes"/>
          <p:cNvSpPr/>
          <p:nvPr/>
        </p:nvSpPr>
        <p:spPr>
          <a:xfrm>
            <a:off x="548640" y="3977640"/>
            <a:ext cx="110642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4114800"/>
            <a:ext cx="10515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is proven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Separation clearly improves quality over the mixture, and the full pipeline (scoring, decision, fallback) runs end to end.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143500"/>
            <a:ext cx="105156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is not yet proven</a:t>
            </a:r>
            <a:endParaRPr lang="en-US" sz="1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100 oracle labels are “should accept”, so the 91% agreement equals the accept rate and rejection of poor outputs has not been tested.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Conclusions: Findings, Objectives &amp; Limitations</a:t>
            </a:r>
            <a:endParaRPr lang="en-US" sz="3200" dirty="0"/>
          </a:p>
        </p:txBody>
      </p:sp>
      <p:graphicFrame>
        <p:nvGraphicFramePr>
          <p:cNvPr id="14" name="Objectiv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5237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 Separate speakers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About +15.5 dB mean SI-SNR gain on 100 streams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 Speaker consistency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ECAPA-TDNN cosine score implemented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3. Quality score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Re-separation SI-SNR sigmoid score implemented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4. Accept / reject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Rule-based, threshold 0.60; 91 accepted, 9 rejected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Implemented, not yet validated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5. Fallback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Lightly cleaned original mixture is returned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Limitations card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Future work card"/>
          <p:cNvSpPr/>
          <p:nvPr/>
        </p:nvSpPr>
        <p:spPr>
          <a:xfrm>
            <a:off x="6172200" y="40233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Rejection untested: no poor-quality examples.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Decision is a fixed formula, not learned.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50 clean mixtures; two speakers, 8 kHz.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4572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with corrupted and speaker-swapped mixtures.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Tune the threshold or train a classifier; add an ablation.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Try noisy, reverberant data and 3+ speakers.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References left"/>
          <p:cNvSpPr/>
          <p:nvPr/>
        </p:nvSpPr>
        <p:spPr>
          <a:xfrm>
            <a:off x="54864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References right"/>
          <p:cNvSpPr/>
          <p:nvPr/>
        </p:nvSpPr>
        <p:spPr>
          <a:xfrm>
            <a:off x="6172200" y="1280160"/>
            <a:ext cx="5440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Luo &amp; Mesgarani (2019)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Conv-TasNet: Surpassing Ideal Time–Frequency Magnitude Masking for Speech Separation. IEEE/ACM TASLP, 27(8), 1256–1266.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12898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Niu, Du, Sun, Hu &amp; Lee (2023)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QDM-SSD: Quality-Aware Dynamic Masking for Separation-Based Speaker Diarization. IEEE/ACM TASLP, 31, 1037–1049.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62756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Kim, Kim &amp; Kang (2026)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Speaker-Discriminative Attractors for Robust Continuous Speech Separation. IEEE TASLP, 34, 3916–3929.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12614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 Desplanques et al. (2020)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ECAPA-TDNN: Emphasized Channel Attention, Propagation and Aggregation in TDNN Based Speaker Verification. Interspeech, 3830–3834.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463040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5. Panayotov et al. (2015)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LibriSpeech: An ASR Corpus Based on Public Domain Audio Books. IEEE ICASSP, 5206–5210.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12898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6. Cosentino et al. (2020)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LibriMix: An Open-Source Dataset for Generalizable Speech Separation. arXiv:2005.11262 (MiniLibriMix subset).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762756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7. Pariente et al. (2020)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Asteroid: The PyTorch-Based Audio Source Separation Toolkit for Researchers. Interspeech, 2637–2641.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912614"/>
            <a:ext cx="4892040" cy="107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8. Ravanelli et al. (2021)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SpeechBrain: A General-Purpose Speech Toolkit. arXiv:2106.04624.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Questions &amp; Feedback Welcome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2976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</a:rPr>
              <a:t>Hybrid Quality-Aware and Speaker-Consistent Speech Separation for Real-World Mixed Audio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Department of ECE  •  KL University, Hyderabad  •  Academic Year 2025–26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QSC-SS Final Review">
  <a:themeElements>
    <a:clrScheme name="HQSC-SS Final Review">
      <a:dk1>
        <a:srgbClr val="1E293B"/>
      </a:dk1>
      <a:lt1>
        <a:srgbClr val="FFFFFF"/>
      </a:lt1>
      <a:dk2>
        <a:srgbClr val="1B4D3E"/>
      </a:dk2>
      <a:lt2>
        <a:srgbClr val="EBF5EE"/>
      </a:lt2>
      <a:accent1>
        <a:srgbClr val="1B4D3E"/>
      </a:accent1>
      <a:accent2>
        <a:srgbClr val="2E7D5B"/>
      </a:accent2>
      <a:accent3>
        <a:srgbClr val="B45309"/>
      </a:accent3>
      <a:accent4>
        <a:srgbClr val="64748B"/>
      </a:accent4>
      <a:accent5>
        <a:srgbClr val="0F766E"/>
      </a:accent5>
      <a:accent6>
        <a:srgbClr val="94A3B8"/>
      </a:accent6>
      <a:hlink>
        <a:srgbClr val="1B4D3E"/>
      </a:hlink>
      <a:folHlink>
        <a:srgbClr val="64748B"/>
      </a:folHlink>
    </a:clrScheme>
    <a:fontScheme name="HQSC-SS Final 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Microsoft Office PowerPoint</Application>
  <PresentationFormat>Widescreen</PresentationFormat>
  <Paragraphs>267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HQSC-SS Final Review</vt:lpstr>
      <vt:lpstr>PowerPoint Presentation</vt:lpstr>
      <vt:lpstr>Problem, Motivation &amp; Practical Relevance</vt:lpstr>
      <vt:lpstr>Project Objectives</vt:lpstr>
      <vt:lpstr>Literature Review &amp; Problem Investigated</vt:lpstr>
      <vt:lpstr>Methodology: System Block Diagram</vt:lpstr>
      <vt:lpstr>Methodology: Signal Processing Techniques</vt:lpstr>
      <vt:lpstr>Methodology: Data Sources &amp; Tools</vt:lpstr>
      <vt:lpstr>Implementation: Key Processing Stages</vt:lpstr>
      <vt:lpstr>Implementation: Working System Demo</vt:lpstr>
      <vt:lpstr>Results: Gain over the Unprocessed Mixture</vt:lpstr>
      <vt:lpstr>Results: MiniLibriMix (100 Streams)</vt:lpstr>
      <vt:lpstr>Evaluation: Comparison with the Baseline</vt:lpstr>
      <vt:lpstr>Conclusions: Findings, Objectives &amp; Limitations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Quality-Aware and Speaker-Consistent Speech Separation</dc:title>
  <dc:subject>PptxGenJS Presentation</dc:subject>
  <dc:creator>PptxGenJS</dc:creator>
  <cp:lastModifiedBy>Hasini Naidu</cp:lastModifiedBy>
  <cp:revision>2</cp:revision>
  <dcterms:created xsi:type="dcterms:W3CDTF">2026-10-16T04:53:11Z</dcterms:created>
  <dcterms:modified xsi:type="dcterms:W3CDTF">2026-10-16T05:01:12Z</dcterms:modified>
</cp:coreProperties>
</file>